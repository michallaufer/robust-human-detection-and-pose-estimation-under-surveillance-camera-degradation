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370" y="-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5165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Robust Human Perception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D6CDF"/>
                </a:solidFill>
              </a:rPr>
              <a:t>Under Surveillance Camera Degradation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58368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647A"/>
                </a:solidFill>
              </a:rPr>
              <a:t>Course project presentation | COCO-person subset | 3 tasks x 3 distortions</a:t>
            </a:r>
            <a:endParaRPr lang="en-US" sz="1600" dirty="0"/>
          </a:p>
        </p:txBody>
      </p:sp>
      <p:pic>
        <p:nvPicPr>
          <p:cNvPr id="5" name="Image 0" descr="/mnt/data/final_results_fixed/qualitative/sample_2473_medium.png"/>
          <p:cNvPicPr>
            <a:picLocks noChangeAspect="1"/>
          </p:cNvPicPr>
          <p:nvPr/>
        </p:nvPicPr>
        <p:blipFill>
          <a:blip r:embed="rId3"/>
          <a:srcRect t="4131" b="4131"/>
          <a:stretch/>
        </p:blipFill>
        <p:spPr>
          <a:xfrm>
            <a:off x="621792" y="2240280"/>
            <a:ext cx="10881360" cy="3337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572414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47A"/>
                </a:solidFill>
              </a:rPr>
              <a:t>Clean | Corrupted | Enhanced examples used in the evaluation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61722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Question: how do human perception tasks survive low light, blur, and compression?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475720" y="65105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599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and motivation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47A"/>
                </a:solidFill>
              </a:rPr>
              <a:t>Surveillance images are often degraded before the vision model sees them.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9"/>
                </a:solidFill>
              </a:rPr>
              <a:t>Source: results/coco_person/tables/val_aggregate.csv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1481328"/>
            <a:ext cx="46177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A surveillance system may still detect that a person exists, but fail to localize limbs or body pose when images are dark, blurred, or compressed.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2651760"/>
            <a:ext cx="4617720" cy="685800"/>
          </a:xfrm>
          <a:prstGeom prst="rect">
            <a:avLst/>
          </a:prstGeom>
          <a:solidFill>
            <a:srgbClr val="FFF1DF"/>
          </a:solidFill>
          <a:ln>
            <a:solidFill>
              <a:srgbClr val="FFF1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E67700"/>
                </a:solidFill>
              </a:rPr>
              <a:t>The risk is not only lower image quality - it is lower task reliability.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760720" y="1188720"/>
            <a:ext cx="1508760" cy="1051560"/>
          </a:xfrm>
          <a:prstGeom prst="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6CDF"/>
                </a:solidFill>
              </a:rPr>
              <a:t>Low light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D6CDF"/>
                </a:solidFill>
              </a:rPr>
              <a:t>nighttime / poor illumination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543800" y="1188720"/>
            <a:ext cx="1508760" cy="1051560"/>
          </a:xfrm>
          <a:prstGeom prst="rect">
            <a:avLst/>
          </a:prstGeom>
          <a:solidFill>
            <a:srgbClr val="FDECEC"/>
          </a:solidFill>
          <a:ln>
            <a:solidFill>
              <a:srgbClr val="FDEC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74343"/>
                </a:solidFill>
              </a:rPr>
              <a:t>Motion blur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C74343"/>
                </a:solidFill>
              </a:rPr>
              <a:t>movement / slow shutter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0" y="1188720"/>
            <a:ext cx="1508760" cy="1051560"/>
          </a:xfrm>
          <a:prstGeom prst="rect">
            <a:avLst/>
          </a:prstGeom>
          <a:solidFill>
            <a:srgbClr val="E7F5F1"/>
          </a:solidFill>
          <a:ln>
            <a:solidFill>
              <a:srgbClr val="E7F5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8C7A"/>
                </a:solidFill>
              </a:rPr>
              <a:t>JPEG compression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18C7A"/>
                </a:solidFill>
              </a:rPr>
              <a:t>limited bandwidth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96912" y="1719072"/>
            <a:ext cx="2286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9079992" y="1719072"/>
            <a:ext cx="2286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L"/>
          </a:p>
        </p:txBody>
      </p:sp>
      <p:pic>
        <p:nvPicPr>
          <p:cNvPr id="14" name="Image 0" descr="/mnt/data/final_results_fixed/qualitative/sample_2473_medium.png"/>
          <p:cNvPicPr>
            <a:picLocks noChangeAspect="1"/>
          </p:cNvPicPr>
          <p:nvPr/>
        </p:nvPicPr>
        <p:blipFill>
          <a:blip r:embed="rId3"/>
          <a:srcRect l="1102" r="1102"/>
          <a:stretch/>
        </p:blipFill>
        <p:spPr>
          <a:xfrm>
            <a:off x="5715000" y="2743200"/>
            <a:ext cx="5349240" cy="1828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715000" y="4892040"/>
            <a:ext cx="54406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B1F3A"/>
                </a:solidFill>
              </a:rPr>
              <a:t>The project measures how each degradation changes boundary, detection, and pose results - and whether recovery methods actually help the model.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1475720" y="65105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599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Research question and high-level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47A"/>
                </a:solidFill>
              </a:rPr>
              <a:t>The project compares task performance before degradation, after degradation, after enhancement, and after pose fine-tuning.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9"/>
                </a:solidFill>
              </a:rPr>
              <a:t>Source: results/coco_person/tables/val_aggregate.csv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2194560" cy="384048"/>
          </a:xfrm>
          <a:prstGeom prst="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D6CDF"/>
                </a:solidFill>
              </a:rPr>
              <a:t>Research question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10607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person-boundary extraction, detection, and pose estimation respond to increasing surveillance-like degradation?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10424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6647A"/>
                </a:solidFill>
              </a:rPr>
              <a:t>And how much performance can be recovered through classical image enhancement or corruption-aware fine-tuning?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2971800"/>
            <a:ext cx="2148840" cy="960120"/>
          </a:xfrm>
          <a:prstGeom prst="rect">
            <a:avLst/>
          </a:prstGeom>
          <a:solidFill>
            <a:srgbClr val="E7F5F1"/>
          </a:solidFill>
          <a:ln>
            <a:solidFill>
              <a:srgbClr val="E7F5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8C7A"/>
                </a:solidFill>
              </a:rPr>
              <a:t>Clean images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8C7A"/>
                </a:solidFill>
              </a:rPr>
              <a:t>baseline performance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99232" y="3429000"/>
            <a:ext cx="41148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3593592" y="2971800"/>
            <a:ext cx="2148840" cy="960120"/>
          </a:xfrm>
          <a:prstGeom prst="rect">
            <a:avLst/>
          </a:prstGeom>
          <a:solidFill>
            <a:srgbClr val="FDECEC"/>
          </a:solidFill>
          <a:ln>
            <a:solidFill>
              <a:srgbClr val="FDEC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4343"/>
                </a:solidFill>
              </a:rPr>
              <a:t>Corrupted images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74343"/>
                </a:solidFill>
              </a:rPr>
              <a:t>performance degradation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88152" y="3429000"/>
            <a:ext cx="41148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6382512" y="2971800"/>
            <a:ext cx="2148840" cy="960120"/>
          </a:xfrm>
          <a:prstGeom prst="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CDF"/>
                </a:solidFill>
              </a:rPr>
              <a:t>Enhanced images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6CDF"/>
                </a:solidFill>
              </a:rPr>
              <a:t>image-level recovery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77072" y="3429000"/>
            <a:ext cx="41148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9171432" y="2971800"/>
            <a:ext cx="2148840" cy="960120"/>
          </a:xfrm>
          <a:prstGeom prst="rect">
            <a:avLst/>
          </a:prstGeom>
          <a:solidFill>
            <a:srgbClr val="FFF1DF"/>
          </a:solidFill>
          <a:ln>
            <a:solidFill>
              <a:srgbClr val="FFF1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7700"/>
                </a:solidFill>
              </a:rPr>
              <a:t>Fine-tuned pose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67700"/>
                </a:solidFill>
              </a:rPr>
              <a:t>model-level recovery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105156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Important: the fine-tuned pose model is evaluated on clean, corrupted, and enhanced inputs. This checks both robustness and whether clean-image accuracy was harmed.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75720" y="65105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599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Dataset and ground truth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47A"/>
                </a:solidFill>
              </a:rPr>
              <a:t>Public COCO 2017 person subset with boxes, masks, and keypoints.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9"/>
                </a:solidFill>
              </a:rPr>
              <a:t>Source: results/coco_person/tables/val_aggregate.csv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3108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4754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COCO 2017 person images provide the ground truth needed for all three tasks: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4662" y="2023110"/>
            <a:ext cx="2034540" cy="457200"/>
          </a:xfrm>
          <a:prstGeom prst="rect">
            <a:avLst/>
          </a:prstGeom>
          <a:solidFill>
            <a:srgbClr val="2D6CD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Ground truth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82062" y="2023110"/>
            <a:ext cx="2811780" cy="457200"/>
          </a:xfrm>
          <a:prstGeom prst="rect">
            <a:avLst/>
          </a:prstGeom>
          <a:solidFill>
            <a:srgbClr val="2D6CD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Used for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24662" y="2503170"/>
            <a:ext cx="20345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B1F3A"/>
                </a:solidFill>
              </a:rPr>
              <a:t>Person masks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82062" y="2503170"/>
            <a:ext cx="28117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B1F3A"/>
                </a:solidFill>
              </a:rPr>
              <a:t>Boundary F1 vs person silhouette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4662" y="2983230"/>
            <a:ext cx="2034540" cy="4572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B1F3A"/>
                </a:solidFill>
              </a:rPr>
              <a:t>Person boxes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82062" y="2983230"/>
            <a:ext cx="2811780" cy="4572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B1F3A"/>
                </a:solidFill>
              </a:rPr>
              <a:t>YOLO person detection matching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24662" y="3463290"/>
            <a:ext cx="20345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B1F3A"/>
                </a:solidFill>
              </a:rPr>
              <a:t>17 keypoints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82062" y="3463290"/>
            <a:ext cx="28117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B1F3A"/>
                </a:solidFill>
              </a:rPr>
              <a:t>YOLO pose PCK / OKS metrics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0" y="1051560"/>
            <a:ext cx="14630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8C7A"/>
                </a:solidFill>
              </a:rPr>
              <a:t>800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18C7A"/>
                </a:solidFill>
              </a:rPr>
              <a:t>training subset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18C7A"/>
                </a:solidFill>
              </a:rPr>
              <a:t>pose fine-tuning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1051560"/>
            <a:ext cx="14630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CDF"/>
                </a:solidFill>
              </a:rPr>
              <a:t>150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D6CDF"/>
                </a:solidFill>
              </a:rPr>
              <a:t>validation subset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D6CDF"/>
                </a:solidFill>
              </a:rPr>
              <a:t>all results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332720" y="1051560"/>
            <a:ext cx="11887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700"/>
                </a:solidFill>
              </a:rPr>
              <a:t>42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67700"/>
                </a:solidFill>
              </a:rPr>
              <a:t>selection seed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67700"/>
                </a:solidFill>
              </a:rPr>
              <a:t>deterministic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423160"/>
            <a:ext cx="5212080" cy="1051560"/>
          </a:xfrm>
          <a:prstGeom prst="rect">
            <a:avLst/>
          </a:prstGeom>
          <a:solidFill>
            <a:srgbClr val="E7F5F1"/>
          </a:solidFill>
          <a:ln>
            <a:solidFill>
              <a:srgbClr val="E7F5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18C7A"/>
                </a:solidFill>
              </a:rPr>
              <a:t>Fair comparison: the same fixed 150 validation images are used for every clean, corrupted, enhanced, and fine-tuned condition.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475720" y="65105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599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The three vision tasks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47A"/>
                </a:solidFill>
              </a:rPr>
              <a:t>The project covers both low-level image processing and high-level vision.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9"/>
                </a:solidFill>
              </a:rPr>
              <a:t>Source: results/coco_person/tables/val_aggregate.csv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1097280" cy="310896"/>
          </a:xfrm>
          <a:prstGeom prst="rect">
            <a:avLst/>
          </a:prstGeom>
          <a:solidFill>
            <a:srgbClr val="E7F5F1"/>
          </a:solidFill>
          <a:ln>
            <a:solidFill>
              <a:srgbClr val="E7F5F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8C7A"/>
                </a:solidFill>
              </a:rPr>
              <a:t>low-level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18C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1: Boundary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926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Canny edges vs person mask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834640"/>
            <a:ext cx="3017520" cy="0"/>
          </a:xfrm>
          <a:prstGeom prst="line">
            <a:avLst/>
          </a:prstGeom>
          <a:noFill/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30632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6647A"/>
                </a:solidFill>
              </a:rPr>
              <a:t>Metric: Boundary F1, precision, recall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343400" y="1097280"/>
            <a:ext cx="1097280" cy="310896"/>
          </a:xfrm>
          <a:prstGeom prst="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6CDF"/>
                </a:solidFill>
              </a:rPr>
              <a:t>high-level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434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6CD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2: Detection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343400" y="2057400"/>
            <a:ext cx="2926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YOLOv8n person detector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43400" y="2834640"/>
            <a:ext cx="3017520" cy="0"/>
          </a:xfrm>
          <a:prstGeom prst="line">
            <a:avLst/>
          </a:prstGeom>
          <a:noFill/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4343400" y="3063240"/>
            <a:ext cx="30632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6647A"/>
                </a:solidFill>
              </a:rPr>
              <a:t>Metric: Detection F1, recall, miss rate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001000" y="1097280"/>
            <a:ext cx="1097280" cy="310896"/>
          </a:xfrm>
          <a:prstGeom prst="rect">
            <a:avLst/>
          </a:prstGeom>
          <a:solidFill>
            <a:srgbClr val="FFF1DF"/>
          </a:solidFill>
          <a:ln>
            <a:solidFill>
              <a:srgbClr val="FFF1D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67700"/>
                </a:solidFill>
              </a:rPr>
              <a:t>high-level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010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E6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3: Pose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001000" y="2057400"/>
            <a:ext cx="2926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YOLOv8n-pose keypoints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01000" y="2834640"/>
            <a:ext cx="3017520" cy="0"/>
          </a:xfrm>
          <a:prstGeom prst="line">
            <a:avLst/>
          </a:prstGeom>
          <a:noFill/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8001000" y="3063240"/>
            <a:ext cx="30632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6647A"/>
                </a:solidFill>
              </a:rPr>
              <a:t>Metric: PCK@0.2, PCK@0.5, OKS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34440" y="4892040"/>
            <a:ext cx="9692640" cy="685800"/>
          </a:xfrm>
          <a:prstGeom prst="rect">
            <a:avLst/>
          </a:prstGeom>
          <a:solidFill>
            <a:srgbClr val="FDECEC"/>
          </a:solidFill>
          <a:ln>
            <a:solidFill>
              <a:srgbClr val="FDEC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C74343"/>
                </a:solidFill>
              </a:rPr>
              <a:t>Key reason for 3 tasks: a method can improve low-level edges but still fail at high-level detection or pose.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475720" y="65105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599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The three distortions and severity levels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47A"/>
                </a:solidFill>
              </a:rPr>
              <a:t>Each distortion is evaluated at mild, medium, and severe intensity.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9"/>
                </a:solidFill>
              </a:rPr>
              <a:t>Source: results/coco_person/tables/val_aggregate.csv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69798" y="1108710"/>
            <a:ext cx="1897380" cy="4343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Distortion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2590038" y="1108710"/>
            <a:ext cx="1394460" cy="4343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Mild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4007358" y="1108710"/>
            <a:ext cx="1394460" cy="4343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Medium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5424678" y="1108710"/>
            <a:ext cx="1394460" cy="4343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Severe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6841998" y="1108710"/>
            <a:ext cx="4686300" cy="4343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Why it matters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69798" y="1565910"/>
            <a:ext cx="189738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Low light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2590038" y="1565910"/>
            <a:ext cx="139446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gamma 1.5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4007358" y="1565910"/>
            <a:ext cx="139446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gamma 2.2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5424678" y="1565910"/>
            <a:ext cx="139446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gamma 3.0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6841998" y="1565910"/>
            <a:ext cx="468630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night / poor illumination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669798" y="2023110"/>
            <a:ext cx="189738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Motion blur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2590038" y="2023110"/>
            <a:ext cx="139446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kernel 5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4007358" y="2023110"/>
            <a:ext cx="139446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kernel 15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5424678" y="2023110"/>
            <a:ext cx="139446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kernel 25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841998" y="2023110"/>
            <a:ext cx="468630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movement / slow shutter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669798" y="2480310"/>
            <a:ext cx="189738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JPEG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2590038" y="2480310"/>
            <a:ext cx="139446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quality 50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4007358" y="2480310"/>
            <a:ext cx="139446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quality 20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5424678" y="2480310"/>
            <a:ext cx="139446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quality 5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841998" y="2480310"/>
            <a:ext cx="468630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bandwidth-limited streams</a:t>
            </a:r>
            <a:endParaRPr lang="en-US" sz="1180" dirty="0"/>
          </a:p>
        </p:txBody>
      </p:sp>
      <p:pic>
        <p:nvPicPr>
          <p:cNvPr id="26" name="Image 0" descr="/mnt/data/final_results_fixed/qualitative/sample_2473_medium.png"/>
          <p:cNvPicPr>
            <a:picLocks noChangeAspect="1"/>
          </p:cNvPicPr>
          <p:nvPr/>
        </p:nvPicPr>
        <p:blipFill>
          <a:blip r:embed="rId3"/>
          <a:srcRect t="19562" b="19562"/>
          <a:stretch/>
        </p:blipFill>
        <p:spPr>
          <a:xfrm>
            <a:off x="822960" y="3429000"/>
            <a:ext cx="10332720" cy="21031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41248" y="5669280"/>
            <a:ext cx="10241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6647A"/>
                </a:solidFill>
              </a:rPr>
              <a:t>The qualitative example shows why the same image can lead to different levels of task failure after corruption and enhancement.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11475720" y="65105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599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Recovery methods tested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47A"/>
                </a:solidFill>
              </a:rPr>
              <a:t>Two recovery ideas: repair the image, or adapt the pose model.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9"/>
                </a:solidFill>
              </a:rPr>
              <a:t>Source: results/coco_person/tables/val_aggregate.csv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97230" y="1062990"/>
            <a:ext cx="1577340" cy="571500"/>
          </a:xfrm>
          <a:prstGeom prst="rect">
            <a:avLst/>
          </a:prstGeom>
          <a:solidFill>
            <a:srgbClr val="2D6CD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Distortion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2297430" y="1062990"/>
            <a:ext cx="2125980" cy="571500"/>
          </a:xfrm>
          <a:prstGeom prst="rect">
            <a:avLst/>
          </a:prstGeom>
          <a:solidFill>
            <a:srgbClr val="2D6CD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Enhancement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4446270" y="1062990"/>
            <a:ext cx="2857500" cy="571500"/>
          </a:xfrm>
          <a:prstGeom prst="rect">
            <a:avLst/>
          </a:prstGeom>
          <a:solidFill>
            <a:srgbClr val="2D6CD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Intuition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697230" y="1657350"/>
            <a:ext cx="1577340" cy="571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Low light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2297430" y="1657350"/>
            <a:ext cx="2125980" cy="571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CLAHE + gamma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4446270" y="1657350"/>
            <a:ext cx="2857500" cy="571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increase local contrast and brightness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697230" y="2251710"/>
            <a:ext cx="1577340" cy="5715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Motion blur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2297430" y="2251710"/>
            <a:ext cx="2125980" cy="5715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Stable unsharp masking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4446270" y="2251710"/>
            <a:ext cx="2857500" cy="5715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strengthen edges; not true deblurring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697230" y="2846070"/>
            <a:ext cx="1577340" cy="571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JPEG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2297430" y="2846070"/>
            <a:ext cx="2125980" cy="571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Bilateral filtering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4446270" y="2846070"/>
            <a:ext cx="2857500" cy="571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</a:rPr>
              <a:t>reduce block artifacts while preserving edges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7726680" y="1078992"/>
            <a:ext cx="3474720" cy="411480"/>
          </a:xfrm>
          <a:prstGeom prst="rect">
            <a:avLst/>
          </a:prstGeom>
          <a:solidFill>
            <a:srgbClr val="FFF1DF"/>
          </a:solidFill>
          <a:ln>
            <a:solidFill>
              <a:srgbClr val="FFF1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E67700"/>
                </a:solidFill>
              </a:rPr>
              <a:t>Fine-tuning setup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26680" y="1645920"/>
            <a:ext cx="34290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YOLOv8n-pose was fine-tuned on 800 training images with a mixed corruption set: clean + low light + motion blur + JPEG.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26680" y="3063240"/>
            <a:ext cx="34290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Then it was evaluated on all 19 conditions: clean, corrupted, and enhanced.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32" y="3977640"/>
            <a:ext cx="106070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6647A"/>
                </a:solidFill>
              </a:rPr>
              <a:t>The detector was not fine-tuned; one DL fine-tune satisfies the requirement and keeps the scope feasible.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1475720" y="65105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599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Evaluation and comparisons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47A"/>
                </a:solidFill>
              </a:rPr>
              <a:t>Every condition is measured on the same validation subset.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9"/>
                </a:solidFill>
              </a:rPr>
              <a:t>Source: results/coco_person/tables/val_aggregate.csv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compared?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97230" y="1565910"/>
            <a:ext cx="2217420" cy="452628"/>
          </a:xfrm>
          <a:prstGeom prst="rect">
            <a:avLst/>
          </a:prstGeom>
          <a:solidFill>
            <a:srgbClr val="218C7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</a:rPr>
              <a:t>Input to model</a:t>
            </a:r>
            <a:endParaRPr lang="en-US" sz="1170" dirty="0"/>
          </a:p>
        </p:txBody>
      </p:sp>
      <p:sp>
        <p:nvSpPr>
          <p:cNvPr id="8" name="Text 6"/>
          <p:cNvSpPr/>
          <p:nvPr/>
        </p:nvSpPr>
        <p:spPr>
          <a:xfrm>
            <a:off x="2937510" y="1565910"/>
            <a:ext cx="1760220" cy="452628"/>
          </a:xfrm>
          <a:prstGeom prst="rect">
            <a:avLst/>
          </a:prstGeom>
          <a:solidFill>
            <a:srgbClr val="218C7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</a:rPr>
              <a:t>Model</a:t>
            </a:r>
            <a:endParaRPr lang="en-US" sz="1170" dirty="0"/>
          </a:p>
        </p:txBody>
      </p:sp>
      <p:sp>
        <p:nvSpPr>
          <p:cNvPr id="9" name="Text 7"/>
          <p:cNvSpPr/>
          <p:nvPr/>
        </p:nvSpPr>
        <p:spPr>
          <a:xfrm>
            <a:off x="4720590" y="1565910"/>
            <a:ext cx="2628900" cy="452628"/>
          </a:xfrm>
          <a:prstGeom prst="rect">
            <a:avLst/>
          </a:prstGeom>
          <a:solidFill>
            <a:srgbClr val="218C7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</a:rPr>
              <a:t>Purpose</a:t>
            </a:r>
            <a:endParaRPr lang="en-US" sz="1170" dirty="0"/>
          </a:p>
        </p:txBody>
      </p:sp>
      <p:sp>
        <p:nvSpPr>
          <p:cNvPr id="10" name="Text 8"/>
          <p:cNvSpPr/>
          <p:nvPr/>
        </p:nvSpPr>
        <p:spPr>
          <a:xfrm>
            <a:off x="697230" y="2041398"/>
            <a:ext cx="2217420" cy="4526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0B1F3A"/>
                </a:solidFill>
              </a:rPr>
              <a:t>Clean image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2937510" y="2041398"/>
            <a:ext cx="1760220" cy="4526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0B1F3A"/>
                </a:solidFill>
              </a:rPr>
              <a:t>Original models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4720590" y="2041398"/>
            <a:ext cx="2628900" cy="4526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0B1F3A"/>
                </a:solidFill>
              </a:rPr>
              <a:t>Baseline performance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697230" y="2516886"/>
            <a:ext cx="2217420" cy="452628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0B1F3A"/>
                </a:solidFill>
              </a:rPr>
              <a:t>Corrupted image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2937510" y="2516886"/>
            <a:ext cx="1760220" cy="452628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0B1F3A"/>
                </a:solidFill>
              </a:rPr>
              <a:t>Original models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4720590" y="2516886"/>
            <a:ext cx="2628900" cy="452628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0B1F3A"/>
                </a:solidFill>
              </a:rPr>
              <a:t>Degradation curve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697230" y="2992374"/>
            <a:ext cx="2217420" cy="4526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0B1F3A"/>
                </a:solidFill>
              </a:rPr>
              <a:t>Enhanced corrupted image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2937510" y="2992374"/>
            <a:ext cx="1760220" cy="4526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0B1F3A"/>
                </a:solidFill>
              </a:rPr>
              <a:t>Original models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4720590" y="2992374"/>
            <a:ext cx="2628900" cy="4526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0B1F3A"/>
                </a:solidFill>
              </a:rPr>
              <a:t>Image-level recovery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697230" y="3467862"/>
            <a:ext cx="2217420" cy="452628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0B1F3A"/>
                </a:solidFill>
              </a:rPr>
              <a:t>Clean / corrupted / enhanced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2937510" y="3467862"/>
            <a:ext cx="1760220" cy="452628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0B1F3A"/>
                </a:solidFill>
              </a:rPr>
              <a:t>Fine-tuned pose model</a:t>
            </a:r>
            <a:endParaRPr lang="en-US" sz="1170" dirty="0"/>
          </a:p>
        </p:txBody>
      </p:sp>
      <p:sp>
        <p:nvSpPr>
          <p:cNvPr id="21" name="Text 19"/>
          <p:cNvSpPr/>
          <p:nvPr/>
        </p:nvSpPr>
        <p:spPr>
          <a:xfrm>
            <a:off x="4720590" y="3467862"/>
            <a:ext cx="2628900" cy="452628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0B1F3A"/>
                </a:solidFill>
              </a:rPr>
              <a:t>Model-level recovery and trade-off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1097280" y="4617720"/>
            <a:ext cx="9875520" cy="685800"/>
          </a:xfrm>
          <a:prstGeom prst="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D6CDF"/>
                </a:solidFill>
              </a:rPr>
              <a:t>Evaluation goal: compare performance change, not just visual image quality.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475720" y="65105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599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Clean baseline: starting point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47A"/>
                </a:solidFill>
              </a:rPr>
              <a:t>The clean baseline is the reference for all degradation and recovery comparisons.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9"/>
                </a:solidFill>
              </a:rPr>
              <a:t>Source: results/coco_person/tables/val_aggregate.csv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18288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8C7A"/>
                </a:solidFill>
              </a:rPr>
              <a:t>0.547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18C7A"/>
                </a:solidFill>
              </a:rPr>
              <a:t>Boundary F1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18C7A"/>
                </a:solidFill>
              </a:rPr>
              <a:t>Canny vs mask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1234440"/>
            <a:ext cx="18288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CDF"/>
                </a:solidFill>
              </a:rPr>
              <a:t>0.770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D6CDF"/>
                </a:solidFill>
              </a:rPr>
              <a:t>Detection F1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D6CDF"/>
                </a:solidFill>
              </a:rPr>
              <a:t>YOLOv8n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234440"/>
            <a:ext cx="18288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CDF"/>
                </a:solidFill>
              </a:rPr>
              <a:t>0.736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D6CDF"/>
                </a:solidFill>
              </a:rPr>
              <a:t>Detection recall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D6CDF"/>
                </a:solidFill>
              </a:rPr>
              <a:t>YOLOv8n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58200" y="1234440"/>
            <a:ext cx="20116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700"/>
                </a:solidFill>
              </a:rPr>
              <a:t>0.931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67700"/>
                </a:solidFill>
              </a:rPr>
              <a:t>Pose PCK@0.2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67700"/>
                </a:solidFill>
              </a:rPr>
              <a:t>pretrained pose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48463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The pretrained pose model starts very strong on clean images. This makes it hard for a small fine-tuning run to outperform it.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3566160"/>
            <a:ext cx="48463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Detection is measured by F1/recall, not official COCO AP. Pose uses PCK@0.2 and simplified OKS.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120640"/>
            <a:ext cx="10149840" cy="640080"/>
          </a:xfrm>
          <a:prstGeom prst="rect">
            <a:avLst/>
          </a:prstGeom>
          <a:solidFill>
            <a:srgbClr val="E7F5F1"/>
          </a:solidFill>
          <a:ln>
            <a:solidFill>
              <a:srgbClr val="E7F5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18C7A"/>
                </a:solidFill>
              </a:rPr>
              <a:t>Clean baseline matters because robustness is measured as the drop from this reference.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475720" y="65105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599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Overall degradation trends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47A"/>
                </a:solidFill>
              </a:rPr>
              <a:t>Severity curves show how performance falls as image quality gets worse.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9"/>
                </a:solidFill>
              </a:rPr>
              <a:t>Source: results/coco_person/tables/val_aggregate.csv</a:t>
            </a:r>
            <a:endParaRPr lang="en-US" sz="850" dirty="0"/>
          </a:p>
        </p:txBody>
      </p:sp>
      <p:pic>
        <p:nvPicPr>
          <p:cNvPr id="6" name="Image 0" descr="/mnt/data/final_results_fixed/figures/det_f1_vs_seve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28700"/>
            <a:ext cx="5486400" cy="3429000"/>
          </a:xfrm>
          <a:prstGeom prst="rect">
            <a:avLst/>
          </a:prstGeom>
        </p:spPr>
      </p:pic>
      <p:pic>
        <p:nvPicPr>
          <p:cNvPr id="7" name="Image 1" descr="/mnt/data/final_results_fixed/figures/pose_pck_vs_seve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028700"/>
            <a:ext cx="5486400" cy="3429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4754880"/>
            <a:ext cx="51206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Detection F1: motion blur and severe JPEG are the largest high-level failures.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355080" y="4754880"/>
            <a:ext cx="51206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Pose PCK: severe JPEG is recoverable with bilateral filtering; motion blur remains difficult.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475720" y="65105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599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Main failure: severe motion blur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47A"/>
                </a:solidFill>
              </a:rPr>
              <a:t>Motion blur damaged all three tasks and was the hardest distortion to recover.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9"/>
                </a:solidFill>
              </a:rPr>
              <a:t>Source: results/coco_person/tables/val_aggregate.csv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5852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Severe motion blur: clean -&gt; corrupted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97230" y="1520190"/>
            <a:ext cx="1851660" cy="468630"/>
          </a:xfrm>
          <a:prstGeom prst="rect">
            <a:avLst/>
          </a:prstGeom>
          <a:solidFill>
            <a:srgbClr val="C743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Task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2571750" y="1520190"/>
            <a:ext cx="1120140" cy="468630"/>
          </a:xfrm>
          <a:prstGeom prst="rect">
            <a:avLst/>
          </a:prstGeom>
          <a:solidFill>
            <a:srgbClr val="C743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Clean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3714750" y="1520190"/>
            <a:ext cx="1303020" cy="468630"/>
          </a:xfrm>
          <a:prstGeom prst="rect">
            <a:avLst/>
          </a:prstGeom>
          <a:solidFill>
            <a:srgbClr val="C743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Severe blur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5040630" y="1520190"/>
            <a:ext cx="1257300" cy="468630"/>
          </a:xfrm>
          <a:prstGeom prst="rect">
            <a:avLst/>
          </a:prstGeom>
          <a:solidFill>
            <a:srgbClr val="C743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Drop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697230" y="2011680"/>
            <a:ext cx="185166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Boundary F1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2571750" y="2011680"/>
            <a:ext cx="112014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0.547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3714750" y="2011680"/>
            <a:ext cx="130302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0.298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5040630" y="2011680"/>
            <a:ext cx="125730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-0.249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697230" y="2503170"/>
            <a:ext cx="1851660" cy="46863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Detection F1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2571750" y="2503170"/>
            <a:ext cx="1120140" cy="46863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0.770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3714750" y="2503170"/>
            <a:ext cx="1303020" cy="46863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0.406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5040630" y="2503170"/>
            <a:ext cx="1257300" cy="46863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-0.364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697230" y="2994660"/>
            <a:ext cx="185166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Pose PCK@0.2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2571750" y="2994660"/>
            <a:ext cx="112014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0.931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3714750" y="2994660"/>
            <a:ext cx="130302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0.745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5040630" y="2994660"/>
            <a:ext cx="125730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-0.186</a:t>
            </a:r>
            <a:endParaRPr lang="en-US" sz="1240" dirty="0"/>
          </a:p>
        </p:txBody>
      </p:sp>
      <p:pic>
        <p:nvPicPr>
          <p:cNvPr id="23" name="Image 0" descr="/mnt/data/final_results_fixed/figures/boundary_f1_vs_seve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937260"/>
            <a:ext cx="4754880" cy="29718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85800" y="4160520"/>
            <a:ext cx="10698480" cy="822960"/>
          </a:xfrm>
          <a:prstGeom prst="rect">
            <a:avLst/>
          </a:prstGeom>
          <a:solidFill>
            <a:srgbClr val="FDECEC"/>
          </a:solidFill>
          <a:ln>
            <a:solidFill>
              <a:srgbClr val="FDEC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C74343"/>
                </a:solidFill>
              </a:rPr>
              <a:t>Why: blur removes spatial detail. Once limb and person boundaries are smeared, models cannot fully recover the missing structure.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1475720" y="65105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599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Best recovery: severe JPEG + bilateral filtering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47A"/>
                </a:solidFill>
              </a:rPr>
              <a:t>JPEG artifacts were much more recoverable than severe motion blur.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9"/>
                </a:solidFill>
              </a:rPr>
              <a:t>Source: results/coco_person/tables/val_aggregate.csv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54864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Severe JPEG: corrupted -&gt; enhanced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97230" y="1520190"/>
            <a:ext cx="1851660" cy="468630"/>
          </a:xfrm>
          <a:prstGeom prst="rect">
            <a:avLst/>
          </a:prstGeom>
          <a:solidFill>
            <a:srgbClr val="218C7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Task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2571750" y="1520190"/>
            <a:ext cx="1120140" cy="468630"/>
          </a:xfrm>
          <a:prstGeom prst="rect">
            <a:avLst/>
          </a:prstGeom>
          <a:solidFill>
            <a:srgbClr val="218C7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Corrupted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3714750" y="1520190"/>
            <a:ext cx="1303020" cy="468630"/>
          </a:xfrm>
          <a:prstGeom prst="rect">
            <a:avLst/>
          </a:prstGeom>
          <a:solidFill>
            <a:srgbClr val="218C7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Enhanced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5040630" y="1520190"/>
            <a:ext cx="1257300" cy="468630"/>
          </a:xfrm>
          <a:prstGeom prst="rect">
            <a:avLst/>
          </a:prstGeom>
          <a:solidFill>
            <a:srgbClr val="218C7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Recovery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697230" y="2011680"/>
            <a:ext cx="185166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Boundary F1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2571750" y="2011680"/>
            <a:ext cx="112014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0.530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3714750" y="2011680"/>
            <a:ext cx="130302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0.552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5040630" y="2011680"/>
            <a:ext cx="125730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+0.022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697230" y="2503170"/>
            <a:ext cx="1851660" cy="46863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Detection F1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2571750" y="2503170"/>
            <a:ext cx="1120140" cy="46863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0.431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3714750" y="2503170"/>
            <a:ext cx="1303020" cy="46863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0.600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5040630" y="2503170"/>
            <a:ext cx="1257300" cy="46863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+0.169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697230" y="2994660"/>
            <a:ext cx="185166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Pose PCK@0.2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2571750" y="2994660"/>
            <a:ext cx="112014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0.770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3714750" y="2994660"/>
            <a:ext cx="130302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0.872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5040630" y="2994660"/>
            <a:ext cx="125730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+0.102</a:t>
            </a:r>
            <a:endParaRPr lang="en-US" sz="1240" dirty="0"/>
          </a:p>
        </p:txBody>
      </p:sp>
      <p:pic>
        <p:nvPicPr>
          <p:cNvPr id="23" name="Image 0" descr="/mnt/data/final_results_fixed/figures/det_f1_vs_seve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962978"/>
            <a:ext cx="4892040" cy="305752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85800" y="4160520"/>
            <a:ext cx="10698480" cy="777240"/>
          </a:xfrm>
          <a:prstGeom prst="rect">
            <a:avLst/>
          </a:prstGeom>
          <a:solidFill>
            <a:srgbClr val="E7F5F1"/>
          </a:solidFill>
          <a:ln>
            <a:solidFill>
              <a:srgbClr val="E7F5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18C7A"/>
                </a:solidFill>
              </a:rPr>
              <a:t>Interpretation: bilateral filtering reduced compression artifacts enough to help YOLO detection and pose.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1475720" y="65105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599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Cross-level result: low-level recovery is not enough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47A"/>
                </a:solidFill>
              </a:rPr>
              <a:t>An image can have stronger edges but worse detection and pose.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9"/>
                </a:solidFill>
              </a:rPr>
              <a:t>Source: results/coco_person/tables/val_aggregate.csv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5394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Severe blur after unsharp masking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97230" y="1520190"/>
            <a:ext cx="1485900" cy="468630"/>
          </a:xfrm>
          <a:prstGeom prst="rect">
            <a:avLst/>
          </a:prstGeom>
          <a:solidFill>
            <a:srgbClr val="E677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Metric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2205990" y="1520190"/>
            <a:ext cx="1577340" cy="468630"/>
          </a:xfrm>
          <a:prstGeom prst="rect">
            <a:avLst/>
          </a:prstGeom>
          <a:solidFill>
            <a:srgbClr val="E677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Raw severe blur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3806190" y="1520190"/>
            <a:ext cx="1394460" cy="468630"/>
          </a:xfrm>
          <a:prstGeom prst="rect">
            <a:avLst/>
          </a:prstGeom>
          <a:solidFill>
            <a:srgbClr val="E677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Enhanced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5223510" y="1520190"/>
            <a:ext cx="1303020" cy="468630"/>
          </a:xfrm>
          <a:prstGeom prst="rect">
            <a:avLst/>
          </a:prstGeom>
          <a:solidFill>
            <a:srgbClr val="E677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Result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697230" y="2011680"/>
            <a:ext cx="148590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Boundary F1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2205990" y="2011680"/>
            <a:ext cx="157734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0.298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3806190" y="2011680"/>
            <a:ext cx="139446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0.345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5223510" y="2011680"/>
            <a:ext cx="130302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improved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697230" y="2503170"/>
            <a:ext cx="1485900" cy="46863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Detection F1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2205990" y="2503170"/>
            <a:ext cx="1577340" cy="46863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0.406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3806190" y="2503170"/>
            <a:ext cx="1394460" cy="46863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0.392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5223510" y="2503170"/>
            <a:ext cx="1303020" cy="46863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slightly worse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697230" y="2994660"/>
            <a:ext cx="148590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Pose PCK@0.2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2205990" y="2994660"/>
            <a:ext cx="157734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0.745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3806190" y="2994660"/>
            <a:ext cx="139446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0.730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5223510" y="2994660"/>
            <a:ext cx="1303020" cy="468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F3A"/>
                </a:solidFill>
              </a:rPr>
              <a:t>slightly worse</a:t>
            </a:r>
            <a:endParaRPr lang="en-US" sz="1240" dirty="0"/>
          </a:p>
        </p:txBody>
      </p:sp>
      <p:pic>
        <p:nvPicPr>
          <p:cNvPr id="23" name="Image 0" descr="/mnt/data/final_results_fixed/figures/boundary_vs_det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868680"/>
            <a:ext cx="3246120" cy="32461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85800" y="4434840"/>
            <a:ext cx="10424160" cy="694944"/>
          </a:xfrm>
          <a:prstGeom prst="rect">
            <a:avLst/>
          </a:prstGeom>
          <a:solidFill>
            <a:srgbClr val="FFF1DF"/>
          </a:solidFill>
          <a:ln>
            <a:solidFill>
              <a:srgbClr val="FFF1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E67700"/>
                </a:solidFill>
              </a:rPr>
              <a:t>Main lesson: improving edge contrast does not guarantee high-level semantic recovery.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85800" y="5285232"/>
            <a:ext cx="106070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6647A"/>
                </a:solidFill>
              </a:rPr>
              <a:t>This is why the project evaluates three tasks, not only image quality or edge quality.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11475720" y="65105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599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Fine-tuning result: robustness training underperformed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47A"/>
                </a:solidFill>
              </a:rPr>
              <a:t>The small corruption-aware fine-tuning run did not beat the pretrained pose model.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9"/>
                </a:solidFill>
              </a:rPr>
              <a:t>Source: results/coco_person/tables/val_aggregate.csv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97230" y="1017270"/>
            <a:ext cx="2171700" cy="4343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</a:rPr>
              <a:t>Condition</a:t>
            </a:r>
            <a:endParaRPr lang="en-US" sz="1090" dirty="0"/>
          </a:p>
        </p:txBody>
      </p:sp>
      <p:sp>
        <p:nvSpPr>
          <p:cNvPr id="7" name="Text 5"/>
          <p:cNvSpPr/>
          <p:nvPr/>
        </p:nvSpPr>
        <p:spPr>
          <a:xfrm>
            <a:off x="2891790" y="1017270"/>
            <a:ext cx="1760220" cy="4343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</a:rPr>
              <a:t>Pretrained PCK@0.2</a:t>
            </a:r>
            <a:endParaRPr lang="en-US" sz="1090" dirty="0"/>
          </a:p>
        </p:txBody>
      </p:sp>
      <p:sp>
        <p:nvSpPr>
          <p:cNvPr id="8" name="Text 6"/>
          <p:cNvSpPr/>
          <p:nvPr/>
        </p:nvSpPr>
        <p:spPr>
          <a:xfrm>
            <a:off x="4674870" y="1017270"/>
            <a:ext cx="1760220" cy="4343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</a:rPr>
              <a:t>Fine-tuned PCK@0.2</a:t>
            </a:r>
            <a:endParaRPr lang="en-US" sz="1090" dirty="0"/>
          </a:p>
        </p:txBody>
      </p:sp>
      <p:sp>
        <p:nvSpPr>
          <p:cNvPr id="9" name="Text 7"/>
          <p:cNvSpPr/>
          <p:nvPr/>
        </p:nvSpPr>
        <p:spPr>
          <a:xfrm>
            <a:off x="6457950" y="1017270"/>
            <a:ext cx="982980" cy="4343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</a:rPr>
              <a:t>Winner</a:t>
            </a:r>
            <a:endParaRPr lang="en-US" sz="1090" dirty="0"/>
          </a:p>
        </p:txBody>
      </p:sp>
      <p:sp>
        <p:nvSpPr>
          <p:cNvPr id="10" name="Text 8"/>
          <p:cNvSpPr/>
          <p:nvPr/>
        </p:nvSpPr>
        <p:spPr>
          <a:xfrm>
            <a:off x="697230" y="1474470"/>
            <a:ext cx="217170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Clean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2891790" y="1474470"/>
            <a:ext cx="176022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0.931</a:t>
            </a:r>
            <a:endParaRPr lang="en-US" sz="1090" dirty="0"/>
          </a:p>
        </p:txBody>
      </p:sp>
      <p:sp>
        <p:nvSpPr>
          <p:cNvPr id="12" name="Text 10"/>
          <p:cNvSpPr/>
          <p:nvPr/>
        </p:nvSpPr>
        <p:spPr>
          <a:xfrm>
            <a:off x="4674870" y="1474470"/>
            <a:ext cx="176022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0.825</a:t>
            </a:r>
            <a:endParaRPr lang="en-US" sz="1090" dirty="0"/>
          </a:p>
        </p:txBody>
      </p:sp>
      <p:sp>
        <p:nvSpPr>
          <p:cNvPr id="13" name="Text 11"/>
          <p:cNvSpPr/>
          <p:nvPr/>
        </p:nvSpPr>
        <p:spPr>
          <a:xfrm>
            <a:off x="6457950" y="1474470"/>
            <a:ext cx="98298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pretrained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697230" y="1931670"/>
            <a:ext cx="217170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Severe low light</a:t>
            </a:r>
            <a:endParaRPr lang="en-US" sz="1090" dirty="0"/>
          </a:p>
        </p:txBody>
      </p:sp>
      <p:sp>
        <p:nvSpPr>
          <p:cNvPr id="15" name="Text 13"/>
          <p:cNvSpPr/>
          <p:nvPr/>
        </p:nvSpPr>
        <p:spPr>
          <a:xfrm>
            <a:off x="2891790" y="1931670"/>
            <a:ext cx="176022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0.908</a:t>
            </a:r>
            <a:endParaRPr lang="en-US" sz="1090" dirty="0"/>
          </a:p>
        </p:txBody>
      </p:sp>
      <p:sp>
        <p:nvSpPr>
          <p:cNvPr id="16" name="Text 14"/>
          <p:cNvSpPr/>
          <p:nvPr/>
        </p:nvSpPr>
        <p:spPr>
          <a:xfrm>
            <a:off x="4674870" y="1931670"/>
            <a:ext cx="176022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0.798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6457950" y="1931670"/>
            <a:ext cx="98298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pretrained</a:t>
            </a:r>
            <a:endParaRPr lang="en-US" sz="1090" dirty="0"/>
          </a:p>
        </p:txBody>
      </p:sp>
      <p:sp>
        <p:nvSpPr>
          <p:cNvPr id="18" name="Text 16"/>
          <p:cNvSpPr/>
          <p:nvPr/>
        </p:nvSpPr>
        <p:spPr>
          <a:xfrm>
            <a:off x="697230" y="2388870"/>
            <a:ext cx="217170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Severe JPEG</a:t>
            </a:r>
            <a:endParaRPr lang="en-US" sz="1090" dirty="0"/>
          </a:p>
        </p:txBody>
      </p:sp>
      <p:sp>
        <p:nvSpPr>
          <p:cNvPr id="19" name="Text 17"/>
          <p:cNvSpPr/>
          <p:nvPr/>
        </p:nvSpPr>
        <p:spPr>
          <a:xfrm>
            <a:off x="2891790" y="2388870"/>
            <a:ext cx="176022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0.770</a:t>
            </a:r>
            <a:endParaRPr lang="en-US" sz="1090" dirty="0"/>
          </a:p>
        </p:txBody>
      </p:sp>
      <p:sp>
        <p:nvSpPr>
          <p:cNvPr id="20" name="Text 18"/>
          <p:cNvSpPr/>
          <p:nvPr/>
        </p:nvSpPr>
        <p:spPr>
          <a:xfrm>
            <a:off x="4674870" y="2388870"/>
            <a:ext cx="176022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0.740</a:t>
            </a:r>
            <a:endParaRPr lang="en-US" sz="1090" dirty="0"/>
          </a:p>
        </p:txBody>
      </p:sp>
      <p:sp>
        <p:nvSpPr>
          <p:cNvPr id="21" name="Text 19"/>
          <p:cNvSpPr/>
          <p:nvPr/>
        </p:nvSpPr>
        <p:spPr>
          <a:xfrm>
            <a:off x="6457950" y="2388870"/>
            <a:ext cx="98298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pretrained</a:t>
            </a:r>
            <a:endParaRPr lang="en-US" sz="1090" dirty="0"/>
          </a:p>
        </p:txBody>
      </p:sp>
      <p:sp>
        <p:nvSpPr>
          <p:cNvPr id="22" name="Text 20"/>
          <p:cNvSpPr/>
          <p:nvPr/>
        </p:nvSpPr>
        <p:spPr>
          <a:xfrm>
            <a:off x="697230" y="2846070"/>
            <a:ext cx="217170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Severe JPEG + enhanced</a:t>
            </a:r>
            <a:endParaRPr lang="en-US" sz="1090" dirty="0"/>
          </a:p>
        </p:txBody>
      </p:sp>
      <p:sp>
        <p:nvSpPr>
          <p:cNvPr id="23" name="Text 21"/>
          <p:cNvSpPr/>
          <p:nvPr/>
        </p:nvSpPr>
        <p:spPr>
          <a:xfrm>
            <a:off x="2891790" y="2846070"/>
            <a:ext cx="176022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0.872</a:t>
            </a:r>
            <a:endParaRPr lang="en-US" sz="1090" dirty="0"/>
          </a:p>
        </p:txBody>
      </p:sp>
      <p:sp>
        <p:nvSpPr>
          <p:cNvPr id="24" name="Text 22"/>
          <p:cNvSpPr/>
          <p:nvPr/>
        </p:nvSpPr>
        <p:spPr>
          <a:xfrm>
            <a:off x="4674870" y="2846070"/>
            <a:ext cx="176022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0.775</a:t>
            </a:r>
            <a:endParaRPr lang="en-US" sz="1090" dirty="0"/>
          </a:p>
        </p:txBody>
      </p:sp>
      <p:sp>
        <p:nvSpPr>
          <p:cNvPr id="25" name="Text 23"/>
          <p:cNvSpPr/>
          <p:nvPr/>
        </p:nvSpPr>
        <p:spPr>
          <a:xfrm>
            <a:off x="6457950" y="2846070"/>
            <a:ext cx="98298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pretrained</a:t>
            </a:r>
            <a:endParaRPr lang="en-US" sz="1090" dirty="0"/>
          </a:p>
        </p:txBody>
      </p:sp>
      <p:sp>
        <p:nvSpPr>
          <p:cNvPr id="26" name="Text 24"/>
          <p:cNvSpPr/>
          <p:nvPr/>
        </p:nvSpPr>
        <p:spPr>
          <a:xfrm>
            <a:off x="697230" y="3303270"/>
            <a:ext cx="217170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Severe blur</a:t>
            </a:r>
            <a:endParaRPr lang="en-US" sz="1090" dirty="0"/>
          </a:p>
        </p:txBody>
      </p:sp>
      <p:sp>
        <p:nvSpPr>
          <p:cNvPr id="27" name="Text 25"/>
          <p:cNvSpPr/>
          <p:nvPr/>
        </p:nvSpPr>
        <p:spPr>
          <a:xfrm>
            <a:off x="2891790" y="3303270"/>
            <a:ext cx="176022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0.745</a:t>
            </a:r>
            <a:endParaRPr lang="en-US" sz="1090" dirty="0"/>
          </a:p>
        </p:txBody>
      </p:sp>
      <p:sp>
        <p:nvSpPr>
          <p:cNvPr id="28" name="Text 26"/>
          <p:cNvSpPr/>
          <p:nvPr/>
        </p:nvSpPr>
        <p:spPr>
          <a:xfrm>
            <a:off x="4674870" y="3303270"/>
            <a:ext cx="176022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0.686</a:t>
            </a:r>
            <a:endParaRPr lang="en-US" sz="1090" dirty="0"/>
          </a:p>
        </p:txBody>
      </p:sp>
      <p:sp>
        <p:nvSpPr>
          <p:cNvPr id="29" name="Text 27"/>
          <p:cNvSpPr/>
          <p:nvPr/>
        </p:nvSpPr>
        <p:spPr>
          <a:xfrm>
            <a:off x="6457950" y="3303270"/>
            <a:ext cx="982980" cy="4343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pretrained</a:t>
            </a:r>
            <a:endParaRPr lang="en-US" sz="1090" dirty="0"/>
          </a:p>
        </p:txBody>
      </p:sp>
      <p:sp>
        <p:nvSpPr>
          <p:cNvPr id="30" name="Text 28"/>
          <p:cNvSpPr/>
          <p:nvPr/>
        </p:nvSpPr>
        <p:spPr>
          <a:xfrm>
            <a:off x="697230" y="3760470"/>
            <a:ext cx="217170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Severe blur + enhanced</a:t>
            </a:r>
            <a:endParaRPr lang="en-US" sz="1090" dirty="0"/>
          </a:p>
        </p:txBody>
      </p:sp>
      <p:sp>
        <p:nvSpPr>
          <p:cNvPr id="31" name="Text 29"/>
          <p:cNvSpPr/>
          <p:nvPr/>
        </p:nvSpPr>
        <p:spPr>
          <a:xfrm>
            <a:off x="2891790" y="3760470"/>
            <a:ext cx="176022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0.730</a:t>
            </a:r>
            <a:endParaRPr lang="en-US" sz="1090" dirty="0"/>
          </a:p>
        </p:txBody>
      </p:sp>
      <p:sp>
        <p:nvSpPr>
          <p:cNvPr id="32" name="Text 30"/>
          <p:cNvSpPr/>
          <p:nvPr/>
        </p:nvSpPr>
        <p:spPr>
          <a:xfrm>
            <a:off x="4674870" y="3760470"/>
            <a:ext cx="176022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0.681</a:t>
            </a:r>
            <a:endParaRPr lang="en-US" sz="1090" dirty="0"/>
          </a:p>
        </p:txBody>
      </p:sp>
      <p:sp>
        <p:nvSpPr>
          <p:cNvPr id="33" name="Text 31"/>
          <p:cNvSpPr/>
          <p:nvPr/>
        </p:nvSpPr>
        <p:spPr>
          <a:xfrm>
            <a:off x="6457950" y="3760470"/>
            <a:ext cx="982980" cy="43434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0B1F3A"/>
                </a:solidFill>
              </a:rPr>
              <a:t>pretrained</a:t>
            </a:r>
            <a:endParaRPr lang="en-US" sz="1090" dirty="0"/>
          </a:p>
        </p:txBody>
      </p:sp>
      <p:sp>
        <p:nvSpPr>
          <p:cNvPr id="34" name="Text 32"/>
          <p:cNvSpPr/>
          <p:nvPr/>
        </p:nvSpPr>
        <p:spPr>
          <a:xfrm>
            <a:off x="7818120" y="1097280"/>
            <a:ext cx="28803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4343"/>
                </a:solidFill>
              </a:rPr>
              <a:t>0.931 -&gt; 0.825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74343"/>
                </a:solidFill>
              </a:rPr>
              <a:t>clean PCK drop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74343"/>
                </a:solidFill>
              </a:rPr>
              <a:t>fine-tuned lower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18120" y="2423160"/>
            <a:ext cx="28803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700"/>
                </a:solidFill>
              </a:rPr>
              <a:t>19 / 19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67700"/>
                </a:solidFill>
              </a:rPr>
              <a:t>matched conditions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67700"/>
                </a:solidFill>
              </a:rPr>
              <a:t>pretrained higher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" y="4617720"/>
            <a:ext cx="10698480" cy="822960"/>
          </a:xfrm>
          <a:prstGeom prst="rect">
            <a:avLst/>
          </a:prstGeom>
          <a:solidFill>
            <a:srgbClr val="FDECEC"/>
          </a:solidFill>
          <a:ln>
            <a:solidFill>
              <a:srgbClr val="FDEC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C74343"/>
                </a:solidFill>
              </a:rPr>
              <a:t>Interpretation: the 800-image mixed-corruption subset was not enough to improve a model already pretrained on large-scale COCO data.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1475720" y="65105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599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Conclusions and limitations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9"/>
                </a:solidFill>
              </a:rPr>
              <a:t>Source: results/coco_person/tables/val_aggregate.csv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2926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548640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B1F3A"/>
                </a:solidFill>
              </a:rPr>
              <a:t>1. Severity matters: stronger corruptions usually reduce performance.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B1F3A"/>
                </a:solidFill>
              </a:rPr>
              <a:t>2. Motion blur is the hardest distortion for all tasks.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B1F3A"/>
                </a:solidFill>
              </a:rPr>
              <a:t>3. JPEG enhancement gives the strongest high-level recovery.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B1F3A"/>
                </a:solidFill>
              </a:rPr>
              <a:t>4. Stronger edges do not necessarily improve detection or pose.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B1F3A"/>
                </a:solidFill>
              </a:rPr>
              <a:t>5. Small corruption-aware fine-tuning reduced pose localization accuracy.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583680" y="914400"/>
            <a:ext cx="2926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29400" y="1417320"/>
            <a:ext cx="475488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B1F3A"/>
                </a:solidFill>
              </a:rPr>
              <a:t>- 150-image validation subset, not full COCO val.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B1F3A"/>
                </a:solidFill>
              </a:rPr>
              <a:t>- Detection uses F1 / recall, not official AP.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B1F3A"/>
                </a:solidFill>
              </a:rPr>
              <a:t>- Pose uses simplified OKS, not official keypoint AP.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B1F3A"/>
                </a:solidFill>
              </a:rPr>
              <a:t>- No complete per-joint or person-size final aggregate.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B1F3A"/>
                </a:solidFill>
              </a:rPr>
              <a:t>- One fine-tuning run does not prove fine-tuning generally fails.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914400" y="4892040"/>
            <a:ext cx="10241280" cy="713232"/>
          </a:xfrm>
          <a:prstGeom prst="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D6CDF"/>
                </a:solidFill>
              </a:rPr>
              <a:t>Final answer: enhancement is distortion-specific; fine-tuning requires enough data and the right validation criterion.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475720" y="65105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599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1546</Words>
  <Application>Microsoft Office PowerPoint</Application>
  <PresentationFormat>Widescreen</PresentationFormat>
  <Paragraphs>306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Human Perception Under Surveillance Degradation</dc:title>
  <dc:subject>Robust Human Perception Under Surveillance Degradation</dc:subject>
  <dc:creator>OpenAI</dc:creator>
  <cp:lastModifiedBy>Michal Laufer</cp:lastModifiedBy>
  <cp:revision>2</cp:revision>
  <dcterms:created xsi:type="dcterms:W3CDTF">2026-07-21T15:35:42Z</dcterms:created>
  <dcterms:modified xsi:type="dcterms:W3CDTF">2026-07-21T20:47:15Z</dcterms:modified>
</cp:coreProperties>
</file>